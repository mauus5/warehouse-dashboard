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675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97FE6"/>
                </a:solidFill>
                <a:latin typeface="Segoe UI"/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016750"/>
            <a:ext cx="82296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5B8"/>
                </a:solidFill>
                <a:latin typeface="Segoe UI"/>
              </a:rPr>
              <a:t>October 2026  ·  Key Performance Indicators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676750"/>
            <a:ext cx="8229600" cy="3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97FE6"/>
                </a:solidFill>
                <a:latin typeface="Segoe UI"/>
              </a:rPr>
              <a:t>WAREHOUSE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2000" y="2856750"/>
            <a:ext cx="600000" cy="20000"/>
          </a:xfrm>
          <a:prstGeom prst="rect">
            <a:avLst/>
          </a:prstGeom>
          <a:solidFill>
            <a:srgbClr val="197FE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49F73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9F73"/>
                </a:solidFill>
                <a:latin typeface="Segoe UI"/>
              </a:rPr>
              <a:t>1,056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478,051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19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25,161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5,919/day</a:t>
            </a:r>
            <a:endParaRPr lang="en-US" sz="4200" dirty="0"/>
          </a:p>
        </p:txBody>
      </p:sp>
      <p:sp>
        <p:nvSpPr>
          <p:cNvPr id="16" name="Rounded Rectangle 15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OCTOBER 2026  ·  19 DAYS TRACKED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00000" y="2337360"/>
            <a:ext cx="2514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25730" y="2520240"/>
            <a:ext cx="22631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25730" y="3068880"/>
            <a:ext cx="22631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14,087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25730" y="3708960"/>
            <a:ext cx="22631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17 pickers  ·  October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14600" y="2337360"/>
            <a:ext cx="2514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40330" y="2520240"/>
            <a:ext cx="22631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40330" y="3068880"/>
            <a:ext cx="22631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10,515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40330" y="3708960"/>
            <a:ext cx="22631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17 staff  ·  October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29200" y="2337360"/>
            <a:ext cx="2514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54930" y="2520240"/>
            <a:ext cx="22631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4930" y="3068880"/>
            <a:ext cx="22631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6.9</a:t>
            </a:r>
            <a:endParaRPr lang="en-US" sz="4200" dirty="0"/>
          </a:p>
        </p:txBody>
      </p:sp>
      <p:sp>
        <p:nvSpPr>
          <p:cNvPr id="18" name="Rounded Rectangle 17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13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29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112,455</a:t>
            </a:r>
            <a:endParaRPr lang="en-US" sz="4200" dirty="0"/>
          </a:p>
        </p:txBody>
      </p:sp>
      <p:sp>
        <p:nvSpPr>
          <p:cNvPr id="15" name="Rounded Rectangle 14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OCTOBER 2026  ·  19 DAYS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Orji Kalu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Armando Avalos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Gabriel Cabalbag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Boyd Evans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670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Jevante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Bishop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21269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515.6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39928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507.0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38586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431.1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30628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421.0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110.75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46016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415.5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29707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411.2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28544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406.3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94.0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37278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396.6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20184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386.3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25820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378.3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Lewis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19513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371.7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20185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368.7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26800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362.2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28648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359.2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31857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359.0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31824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356.6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138.25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49242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356.2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Damoray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Devoe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32042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354.1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23825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344.0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25939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340.2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20245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338.8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27102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334.6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Christopher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Shaw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86.0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28739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334.2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122.75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35162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286.5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76.0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21748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286.2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Durant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67.25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18873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280.6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Daniel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77.0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21484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279.0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Gatson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73.25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0.0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3670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24781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24461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49,242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22274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23742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46,016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13895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26033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39,928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11939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26647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38,586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21346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15932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37,278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17040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18122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35,162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Damoray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Devoe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19656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32,042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15865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15992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31,857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17718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31,824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30,628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18708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10999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29,707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Christopher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Shaw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14781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13958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28,739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15865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28,648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28,544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15304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11798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27,102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20778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26,800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15924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10015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25,939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11305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25,820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17143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6682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23,825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Daniel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10189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21,748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21,484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Jevante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Bishop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9782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21,269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13966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6279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20,245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8100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12085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20,185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13177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20,184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Lewis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13216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19,513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Durant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12069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18,873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Joshua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Gatson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101.25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112.25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867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Riley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2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Paul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Kelly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1,067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867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Riley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2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Paul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Kelly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117.0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1190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Anderson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Ryan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Koger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Cleavon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Gaston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Maurice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Frazier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Smith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Karinton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Sabb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2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Larry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Wingate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56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1,190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Anderson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Ryan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Koger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56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Maurice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Frazier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Cleavon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Gaston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Smith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Karinton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Sabb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2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Larry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Wingate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Boyd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Evans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Kyietcha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74.2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Jonathan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Seabrooks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Terence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Smith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Rodney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Betancourt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100.5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Terrance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Shiver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Austin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Hickox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2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