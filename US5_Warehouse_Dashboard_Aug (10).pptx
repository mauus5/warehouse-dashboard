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16750"/>
            <a:ext cx="8229600" cy="6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97FE6"/>
                </a:solidFill>
                <a:latin typeface="Segoe UI"/>
              </a:rPr>
              <a:t>MAU US5 Warehouse Dashboard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3016750"/>
            <a:ext cx="8229600" cy="4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5B8"/>
                </a:solidFill>
                <a:latin typeface="Segoe UI"/>
              </a:rPr>
              <a:t>September 2026  ·  Key Performance Indicators</a:t>
            </a:r>
            <a:endParaRPr lang="en-US" sz="2800" dirty="0"/>
          </a:p>
        </p:txBody>
      </p:sp>
      <p:sp>
        <p:nvSpPr>
          <p:cNvPr id="6" name="TextBox 5"/>
          <p:cNvSpPr txBox="1"/>
          <p:nvPr/>
        </p:nvSpPr>
        <p:spPr>
          <a:xfrm>
            <a:off x="457200" y="1676750"/>
            <a:ext cx="8229600" cy="32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97FE6"/>
                </a:solidFill>
                <a:latin typeface="Segoe UI"/>
              </a:rPr>
              <a:t>WAREHOUSE PERFORMANCE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4272000" y="2856750"/>
            <a:ext cx="600000" cy="20000"/>
          </a:xfrm>
          <a:prstGeom prst="rect">
            <a:avLst/>
          </a:prstGeom>
          <a:solidFill>
            <a:srgbClr val="197FE6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97FE6"/>
                </a:solidFill>
                <a:latin typeface="Segoe UI"/>
              </a:rPr>
              <a:t>Safety &amp; Loader Operations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149F73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097280" y="155448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Days Without OSHA Recordable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49F73"/>
                </a:solidFill>
                <a:latin typeface="Segoe UI"/>
              </a:rPr>
              <a:t>1,023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5029200" y="137160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212080" y="155448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Total Tires Loaded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212080" y="210312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389,950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5212080" y="274320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688"/>
                </a:solidFill>
                <a:latin typeface="Segoe UI"/>
              </a:rPr>
              <a:t>16 days tracked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347472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97280" y="365760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Average Per Day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420624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24,372</a:t>
            </a:r>
            <a:endParaRPr lang="en-US" sz="4200" dirty="0"/>
          </a:p>
        </p:txBody>
      </p:sp>
      <p:sp>
        <p:nvSpPr>
          <p:cNvPr id="13" name="Shape 11"/>
          <p:cNvSpPr/>
          <p:nvPr/>
        </p:nvSpPr>
        <p:spPr>
          <a:xfrm>
            <a:off x="5029200" y="347472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212080" y="365760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Loaded vs Drop Avg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212080" y="420624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5,455/day</a:t>
            </a:r>
            <a:endParaRPr lang="en-US" sz="4200" dirty="0"/>
          </a:p>
        </p:txBody>
      </p:sp>
      <p:sp>
        <p:nvSpPr>
          <p:cNvPr id="16" name="Rounded Rectangle 15"/>
          <p:cNvSpPr/>
          <p:nvPr/>
        </p:nvSpPr>
        <p:spPr>
          <a:xfrm>
            <a:off x="2772000" y="920000"/>
            <a:ext cx="3600000" cy="28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9AA5B8"/>
                </a:solidFill>
                <a:latin typeface="Segoe UI"/>
              </a:rPr>
              <a:t>SEPTEMBER 2026  ·  16 DAYS TRACKED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97FE6"/>
                </a:solidFill>
                <a:latin typeface="Segoe UI"/>
              </a:rPr>
              <a:t>Warehouse Operations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097280" y="155448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Pallets Picked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13,224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274320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688"/>
                </a:solidFill>
                <a:latin typeface="Segoe UI"/>
              </a:rPr>
              <a:t>14 pickers  ·  September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0" y="137160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212080" y="155448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Pallets Putaway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212080" y="210312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10,324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5212080" y="274320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688"/>
                </a:solidFill>
                <a:latin typeface="Segoe UI"/>
              </a:rPr>
              <a:t>15 staff  ·  September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347472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097280" y="365760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Late Loads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420624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9</a:t>
            </a:r>
            <a:endParaRPr lang="en-US" sz="4200" dirty="0"/>
          </a:p>
        </p:txBody>
      </p:sp>
      <p:sp>
        <p:nvSpPr>
          <p:cNvPr id="14" name="Shape 12"/>
          <p:cNvSpPr/>
          <p:nvPr/>
        </p:nvSpPr>
        <p:spPr>
          <a:xfrm>
            <a:off x="5029200" y="347472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212080" y="365760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Average Roll Over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212080" y="420624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5.1</a:t>
            </a:r>
            <a:endParaRPr lang="en-US" sz="4200" dirty="0"/>
          </a:p>
        </p:txBody>
      </p:sp>
      <p:sp>
        <p:nvSpPr>
          <p:cNvPr id="17" name="TextBox 16"/>
          <p:cNvSpPr txBox="1"/>
          <p:nvPr/>
        </p:nvSpPr>
        <p:spPr>
          <a:xfrm>
            <a:off x="1097280" y="4846320"/>
            <a:ext cx="329184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6B7688"/>
                </a:solidFill>
                <a:latin typeface="Segoe UI"/>
              </a:rPr>
              <a:t>4 days unconfirmed in source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72000" y="920000"/>
            <a:ext cx="3600000" cy="28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9AA5B8"/>
                </a:solidFill>
                <a:latin typeface="Segoe UI"/>
              </a:rPr>
              <a:t>SEPTEMBER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97FE6"/>
                </a:solidFill>
                <a:latin typeface="Segoe UI"/>
              </a:rPr>
              <a:t>Additional Metrics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097280" y="155448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Average Bins Available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9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5029200" y="137160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212080" y="155448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Max Bins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212080" y="210312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25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914400" y="347472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97280" y="365760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Min Bins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420624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0</a:t>
            </a:r>
            <a:endParaRPr lang="en-US" sz="4200" dirty="0"/>
          </a:p>
        </p:txBody>
      </p:sp>
      <p:sp>
        <p:nvSpPr>
          <p:cNvPr id="12" name="Shape 10"/>
          <p:cNvSpPr/>
          <p:nvPr/>
        </p:nvSpPr>
        <p:spPr>
          <a:xfrm>
            <a:off x="5029200" y="347472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212080" y="365760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Loaded vs Drop Total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12080" y="420624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87,286</a:t>
            </a:r>
            <a:endParaRPr lang="en-US" sz="4200" dirty="0"/>
          </a:p>
        </p:txBody>
      </p:sp>
      <p:sp>
        <p:nvSpPr>
          <p:cNvPr id="15" name="Rounded Rectangle 14"/>
          <p:cNvSpPr/>
          <p:nvPr/>
        </p:nvSpPr>
        <p:spPr>
          <a:xfrm>
            <a:off x="2772000" y="920000"/>
            <a:ext cx="3600000" cy="28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9AA5B8"/>
                </a:solidFill>
                <a:latin typeface="Segoe UI"/>
              </a:rPr>
              <a:t>SEPTEMBER 2026  ·  16 DAYS TRACKED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97FE6"/>
                </a:solidFill>
                <a:latin typeface="Segoe UI"/>
              </a:rPr>
              <a:t>🏆 Loader of the Month 🏆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r>
              <a:rPr>
                <a:solidFill>
                  <a:srgbClr val="9AA5B8"/>
                </a:solidFill>
                <a:latin typeface="Segoe UI"/>
              </a:rPr>
              <a:t>August 2026</a:t>
            </a:r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r>
              <a:rPr b="1">
                <a:solidFill>
                  <a:srgbClr val="149F73"/>
                </a:solidFill>
                <a:latin typeface="Segoe UI"/>
              </a:rPr>
              <a:t>Orji Kalu</a:t>
            </a:r>
          </a:p>
        </p:txBody>
      </p:sp>
      <p:sp>
        <p:nvSpPr>
          <p:cNvPr id="5" name="Shape 3"/>
          <p:cNvSpPr/>
          <p:nvPr/>
        </p:nvSpPr>
        <p:spPr>
          <a:xfrm>
            <a:off x="1828800" y="3200400"/>
            <a:ext cx="5486400" cy="228600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011680" y="338328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97FE6"/>
                </a:solidFill>
                <a:latin typeface="Segoe UI"/>
              </a:rPr>
              <a:t>Key Accomplishments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03120" y="3840480"/>
            <a:ext cx="4937760" cy="1554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Outstanding loading performance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Consistent high productivity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Excellent safety record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Strong team collaboration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97FE6"/>
                </a:solidFill>
                <a:latin typeface="Segoe UI"/>
              </a:rPr>
              <a:t>🏆 Picker of the Month 🏆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r>
              <a:rPr>
                <a:solidFill>
                  <a:srgbClr val="9AA5B8"/>
                </a:solidFill>
                <a:latin typeface="Segoe UI"/>
              </a:rPr>
              <a:t>August 2026</a:t>
            </a:r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r>
              <a:rPr b="1">
                <a:solidFill>
                  <a:srgbClr val="149F73"/>
                </a:solidFill>
                <a:latin typeface="Segoe UI"/>
              </a:rPr>
              <a:t>Jaylon Williams</a:t>
            </a:r>
          </a:p>
        </p:txBody>
      </p:sp>
      <p:sp>
        <p:nvSpPr>
          <p:cNvPr id="5" name="Shape 3"/>
          <p:cNvSpPr/>
          <p:nvPr/>
        </p:nvSpPr>
        <p:spPr>
          <a:xfrm>
            <a:off x="1828800" y="3200400"/>
            <a:ext cx="5486400" cy="228600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011680" y="338328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97FE6"/>
                </a:solidFill>
                <a:latin typeface="Segoe UI"/>
              </a:rPr>
              <a:t>Key Accomplishments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03120" y="3840480"/>
            <a:ext cx="4937760" cy="1554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Exceptional picking accuracy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Exceeded productivity targets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Outstanding efficiency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Demonstrated excellence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97FE6"/>
                </a:solidFill>
                <a:latin typeface="Segoe UI"/>
              </a:rPr>
              <a:t>🏆 Putaway of the Month 🏆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r>
              <a:rPr>
                <a:solidFill>
                  <a:srgbClr val="9AA5B8"/>
                </a:solidFill>
                <a:latin typeface="Segoe UI"/>
              </a:rPr>
              <a:t>August 2026</a:t>
            </a:r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r>
              <a:rPr b="1">
                <a:solidFill>
                  <a:srgbClr val="149F73"/>
                </a:solidFill>
                <a:latin typeface="Segoe UI"/>
              </a:rPr>
              <a:t>Donald Lynch</a:t>
            </a:r>
          </a:p>
        </p:txBody>
      </p:sp>
      <p:sp>
        <p:nvSpPr>
          <p:cNvPr id="5" name="Shape 3"/>
          <p:cNvSpPr/>
          <p:nvPr/>
        </p:nvSpPr>
        <p:spPr>
          <a:xfrm>
            <a:off x="1828800" y="3200400"/>
            <a:ext cx="5486400" cy="228600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011680" y="338328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97FE6"/>
                </a:solidFill>
                <a:latin typeface="Segoe UI"/>
              </a:rPr>
              <a:t>Key Accomplishments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03120" y="3840480"/>
            <a:ext cx="4937760" cy="1554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Superior putaway performance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Maintained quality standards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Excellent organization skills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Consistent high achievement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97FE6"/>
                </a:solidFill>
                <a:latin typeface="Segoe UI"/>
              </a:rPr>
              <a:t>🌟 Employee of the Month 🌟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r>
              <a:rPr>
                <a:solidFill>
                  <a:srgbClr val="9AA5B8"/>
                </a:solidFill>
                <a:latin typeface="Segoe UI"/>
              </a:rPr>
              <a:t>August 2026</a:t>
            </a:r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r>
              <a:rPr b="1">
                <a:solidFill>
                  <a:srgbClr val="149F73"/>
                </a:solidFill>
                <a:latin typeface="Segoe UI"/>
              </a:rPr>
              <a:t>Jalen Brown</a:t>
            </a:r>
          </a:p>
        </p:txBody>
      </p:sp>
      <p:sp>
        <p:nvSpPr>
          <p:cNvPr id="5" name="Shape 3"/>
          <p:cNvSpPr/>
          <p:nvPr/>
        </p:nvSpPr>
        <p:spPr>
          <a:xfrm>
            <a:off x="1828800" y="3200400"/>
            <a:ext cx="5486400" cy="228600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011680" y="338328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97FE6"/>
                </a:solidFill>
                <a:latin typeface="Segoe UI"/>
              </a:rPr>
              <a:t>Key Accomplishments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03120" y="3840480"/>
            <a:ext cx="4937760" cy="1554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Exceptional overall performance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Outstanding work ethic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Strong leadership qualities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Commitment to excellence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Loader Efficiency (1 of 3)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91520"/>
          <a:ext cx="8412480" cy="403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3670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 Hours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 Tires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Tires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36706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Carlos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Martinez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63.75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28251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443.2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36706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Fermin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Flores Trejo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64.75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26675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412.0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36706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Orji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Kalu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88.5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36107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408.0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36706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Jose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Pulido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108.0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42859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396.8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36706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Pedro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Lopez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73.25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29025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396.2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36706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Yoslandy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Perez-Garcia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95.75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37617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392.9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36706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Alexander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Cruz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98.75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37617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380.9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36706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Lucas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Juarez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93.0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34905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375.3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36706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Malcolm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Davis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102.5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36789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358.9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36707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Tyler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Bryant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88.5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31569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356.7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SEPTEMBER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Loader Efficiency (2 of 3)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91520"/>
          <a:ext cx="8412480" cy="403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403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 Hours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 Tires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Tires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Steven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Brown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97.75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34196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349.8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Malachi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Burgess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123.25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42148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342.0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Sekwan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Jenkins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37.0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12435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336.1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Jacob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Lyles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56.0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17714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316.3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Willis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Mayes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58.0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18327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316.0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Denzell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Kitching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94.75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29626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312.7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Bralen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Keisler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31.0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9670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311.9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Ammar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McRiney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59.0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17867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302.8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Levonta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Grooms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87.25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25954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297.5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SEPTEMBER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Loader Efficiency (3 of 3)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91520"/>
          <a:ext cx="8412480" cy="403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403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 Hours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 Tires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Tires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Tyree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Lewis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61.5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17986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292.5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Michael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Gonder Jr.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63.0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17415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276.4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Michael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Bennett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63.25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17323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273.9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Elder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Ndukwe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75.75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19163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253.0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Travis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Whitt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99.75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24929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249.9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Stanley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Green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125.5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31035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247.3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Jason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Durant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79.75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17701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222.0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William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Rhone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111.75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23642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211.6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Christopher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Shaw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90.0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11621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129.1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SEPTEMBER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Loader Totals (1 of 3)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91520"/>
          <a:ext cx="8595360" cy="4037680"/>
        </p:xfrm>
        <a:graphic>
          <a:graphicData uri="http://schemas.openxmlformats.org/drawingml/2006/table">
            <a:tbl>
              <a:tblPr/>
              <a:tblGrid>
                <a:gridCol w="755636"/>
                <a:gridCol w="1227908"/>
                <a:gridCol w="1322363"/>
                <a:gridCol w="850090"/>
                <a:gridCol w="850090"/>
                <a:gridCol w="850090"/>
                <a:gridCol w="850090"/>
                <a:gridCol w="850090"/>
                <a:gridCol w="1038999"/>
              </a:tblGrid>
              <a:tr h="3670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36706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Jose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Pulido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21206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21653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42,859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36706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Malachi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Burgess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12921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29227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42,148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36706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Alexander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Cruz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17952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19665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37,617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36706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Yoslandy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Perez-Garcia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17952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19665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37,617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36706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Malcolm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Davis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14176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22613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36,789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36706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Orji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Kalu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17219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18888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36,107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36706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Lucas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Juarez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15180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19725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34,905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36706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Steven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Brown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18973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15223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34,196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36706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Tyler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Bryant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18844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12725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31,569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36707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Stanley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Green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13546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17489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31,035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SEPTEMBER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Loader Totals (2 of 3)</a:t>
            </a:r>
            <a:endParaRPr lang="en-U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91520"/>
          <a:ext cx="8595360" cy="4037680"/>
        </p:xfrm>
        <a:graphic>
          <a:graphicData uri="http://schemas.openxmlformats.org/drawingml/2006/table">
            <a:tbl>
              <a:tblPr/>
              <a:tblGrid>
                <a:gridCol w="755636"/>
                <a:gridCol w="1227908"/>
                <a:gridCol w="1322363"/>
                <a:gridCol w="850090"/>
                <a:gridCol w="850090"/>
                <a:gridCol w="850090"/>
                <a:gridCol w="850090"/>
                <a:gridCol w="850090"/>
                <a:gridCol w="1038999"/>
              </a:tblGrid>
              <a:tr h="403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Denzell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Kitching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14781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14845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29,626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Pedro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Lopez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12158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16867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29,025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Carlos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Martinez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13381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14870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28,251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Fermin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Flores Trejo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13153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13522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26,675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Levonta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Grooms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13575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12379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25,954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Travis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Whitt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10934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13995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24,929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William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Rhone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3776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19866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23,642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Elder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Ndukwe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10434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8729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19,163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Willis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Mayes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6896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11431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18,327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SEPTEMBER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Loader Totals (3 of 3)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91520"/>
          <a:ext cx="8595360" cy="4037680"/>
        </p:xfrm>
        <a:graphic>
          <a:graphicData uri="http://schemas.openxmlformats.org/drawingml/2006/table">
            <a:tbl>
              <a:tblPr/>
              <a:tblGrid>
                <a:gridCol w="755636"/>
                <a:gridCol w="1227908"/>
                <a:gridCol w="1322363"/>
                <a:gridCol w="850090"/>
                <a:gridCol w="850090"/>
                <a:gridCol w="850090"/>
                <a:gridCol w="850090"/>
                <a:gridCol w="850090"/>
                <a:gridCol w="1038999"/>
              </a:tblGrid>
              <a:tr h="403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Tyree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Lewis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9818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8168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17,986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Ammar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McRiney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4968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12899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17,867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Jacob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Lyles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8325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9389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17,714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Jason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Durant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8758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8943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17,701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Michael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Gonder Jr.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7784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9631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17,415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Michael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Bennett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6454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10869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17,323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Sekwan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Jenkins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5487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6948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12,435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Christopher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Shaw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2678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8943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11,621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Bralen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Keisler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5644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4026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9,670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SEPTEMBER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Picker Efficiency (1 of 2)</a:t>
            </a:r>
            <a:endParaRPr lang="en-US" sz="2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91520"/>
          <a:ext cx="8412480" cy="4037680"/>
        </p:xfrm>
        <a:graphic>
          <a:graphicData uri="http://schemas.openxmlformats.org/drawingml/2006/table">
            <a:tbl>
              <a:tblPr/>
              <a:tblGrid>
                <a:gridCol w="1402080"/>
                <a:gridCol w="1402080"/>
                <a:gridCol w="1402080"/>
                <a:gridCol w="1402080"/>
                <a:gridCol w="1402080"/>
                <a:gridCol w="1402080"/>
              </a:tblGrid>
              <a:tr h="5047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Picked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Makaela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Culler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108.25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1672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15.4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Zavius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Calloway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81.5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1244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15.3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Kyle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Graham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61.0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877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14.4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Bendrix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Hook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74.75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1029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13.8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Jaylon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Williams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71.0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967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13.6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Armando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Avalos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84.25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1108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13.2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Gregory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Brown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39.0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510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13.1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SEPTEMBER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Picker Efficiency (2 of 2)</a:t>
            </a:r>
            <a:endParaRPr lang="en-US" sz="2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91520"/>
          <a:ext cx="8412480" cy="4037680"/>
        </p:xfrm>
        <a:graphic>
          <a:graphicData uri="http://schemas.openxmlformats.org/drawingml/2006/table">
            <a:tbl>
              <a:tblPr/>
              <a:tblGrid>
                <a:gridCol w="1402080"/>
                <a:gridCol w="1402080"/>
                <a:gridCol w="1402080"/>
                <a:gridCol w="1402080"/>
                <a:gridCol w="1402080"/>
                <a:gridCol w="1402080"/>
              </a:tblGrid>
              <a:tr h="5047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Picked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Johnathan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Ermel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84.25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1059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12.6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Akeem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Bouknight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76.75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938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12.2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George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Harris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46.5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559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Travis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Abney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88.75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1055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11.9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Jalen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Brown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87.5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931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10.6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O'Mari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Rajah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73.5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782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10.6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David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Kearse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70.0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493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SEPTEMBER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Picker Totals (1 of 2)</a:t>
            </a:r>
            <a:endParaRPr lang="en-US" sz="2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91520"/>
          <a:ext cx="8595360" cy="4037680"/>
        </p:xfrm>
        <a:graphic>
          <a:graphicData uri="http://schemas.openxmlformats.org/drawingml/2006/table">
            <a:tbl>
              <a:tblPr/>
              <a:tblGrid>
                <a:gridCol w="755636"/>
                <a:gridCol w="1227908"/>
                <a:gridCol w="1322363"/>
                <a:gridCol w="850090"/>
                <a:gridCol w="850090"/>
                <a:gridCol w="850090"/>
                <a:gridCol w="850090"/>
                <a:gridCol w="850090"/>
                <a:gridCol w="1038999"/>
              </a:tblGrid>
              <a:tr h="5047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Makaela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Culler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715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957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1,672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Zavius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Calloway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414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830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1,244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Armando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Avalos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645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463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1,108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Johnathan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Ermel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447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612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1,059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Travis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Abney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591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464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1,055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Bendrix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Hook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391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638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1,029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Jaylon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Williams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445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522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967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SEPTEMBER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Picker Totals (2 of 2)</a:t>
            </a:r>
            <a:endParaRPr lang="en-US" sz="2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91520"/>
          <a:ext cx="8595360" cy="4037680"/>
        </p:xfrm>
        <a:graphic>
          <a:graphicData uri="http://schemas.openxmlformats.org/drawingml/2006/table">
            <a:tbl>
              <a:tblPr/>
              <a:tblGrid>
                <a:gridCol w="755636"/>
                <a:gridCol w="1227908"/>
                <a:gridCol w="1322363"/>
                <a:gridCol w="850090"/>
                <a:gridCol w="850090"/>
                <a:gridCol w="850090"/>
                <a:gridCol w="850090"/>
                <a:gridCol w="850090"/>
                <a:gridCol w="1038999"/>
              </a:tblGrid>
              <a:tr h="5047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Akeem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Bouknight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508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430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938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Kyle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Graham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408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469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877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Jalen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Brown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647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843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O'Mari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Rajah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373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409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782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Gregory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Brown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314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284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598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George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Harris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373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559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David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Kearse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301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493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SEPTEMBER 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Putaway Efficiency (1 of 2)</a:t>
            </a:r>
            <a:endParaRPr lang="en-US" sz="2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91520"/>
          <a:ext cx="8412480" cy="4037680"/>
        </p:xfrm>
        <a:graphic>
          <a:graphicData uri="http://schemas.openxmlformats.org/drawingml/2006/table">
            <a:tbl>
              <a:tblPr/>
              <a:tblGrid>
                <a:gridCol w="1402080"/>
                <a:gridCol w="1402080"/>
                <a:gridCol w="1402080"/>
                <a:gridCol w="1402080"/>
                <a:gridCol w="1402080"/>
                <a:gridCol w="1402080"/>
              </a:tblGrid>
              <a:tr h="44863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Moved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Gabriel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Cabalbag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80.5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902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11.2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Dakota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Grubbs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95.25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1009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10.6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Patrick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Ames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76.5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787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10.3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Michael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Orta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93.25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922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9.9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Carlus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Anderson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82.25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788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9.6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Darryl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Dozier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69.5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623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Daquan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Adams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73.25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655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8.9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2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Donald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Lynch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89.5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783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8.7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SEPTEMBER 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Putaway Efficiency (2 of 2)</a:t>
            </a:r>
            <a:endParaRPr lang="en-US" sz="2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91520"/>
          <a:ext cx="8412480" cy="4037680"/>
        </p:xfrm>
        <a:graphic>
          <a:graphicData uri="http://schemas.openxmlformats.org/drawingml/2006/table">
            <a:tbl>
              <a:tblPr/>
              <a:tblGrid>
                <a:gridCol w="1402080"/>
                <a:gridCol w="1402080"/>
                <a:gridCol w="1402080"/>
                <a:gridCol w="1402080"/>
                <a:gridCol w="1402080"/>
                <a:gridCol w="1402080"/>
              </a:tblGrid>
              <a:tr h="5047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Moved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Jakyrick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Hallingquest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69.0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583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8.4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Anthony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Quattlebaum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83.0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696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8.4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William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Butler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58.25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455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7.8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Virgil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Calvin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84.25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623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7.4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Tyler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Anderson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71.25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463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Tyreak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Rogers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54.0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331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6.1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Jimmy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McBride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115.5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704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6.1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2" name="Rounded Rectangle 21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SEPTEMBER 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Putaway Totals (1 of 2)</a:t>
            </a:r>
            <a:endParaRPr lang="en-US" sz="2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91520"/>
          <a:ext cx="8595360" cy="4037680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44863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Dakota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Grubbs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247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762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1,009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Michael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Orta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524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398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922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Gabriel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Cabalbag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387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515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902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Carlus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Anderson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311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477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788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Patrick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Ames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353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434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787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Donald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Lynch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576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207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783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Jimmy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McBride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323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381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704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2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Anthony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Quattlebaum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505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696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3" name="Rounded Rectangle 22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SEPTEMBER 2026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Putaway Totals (2 of 2)</a:t>
            </a:r>
            <a:endParaRPr lang="en-US" sz="26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91520"/>
          <a:ext cx="8595360" cy="4037680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5047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Daquan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Adams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210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445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655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Virgil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Calvin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350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273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623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Darryl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Dozier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345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278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623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Jakyrick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Hallingquest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287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296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583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Tyler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Anderson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289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463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William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Butler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302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455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Tyreak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Rogers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331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SEPTEMBER 2026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Bin Maker/Cons Efficiency</a:t>
            </a:r>
            <a:endParaRPr lang="en-US" sz="26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91520"/>
          <a:ext cx="8412480" cy="403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5047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Moves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12 hr. Projection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Rodney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Betancourt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72.25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735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10.2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122.1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Austin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Hickox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79.0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698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8.8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106.0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Boyd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Evans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108.0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602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5.6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66.9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Terence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Smith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75.0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408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5.4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65.3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Kyietcha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Brown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69.5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355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5.1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61.3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Terrance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Shiver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80.5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340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4.2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50.7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Jonathan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Seabrooks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56.75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2.9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35.1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5" name="Rounded Rectangle 24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SEPTEMBER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MAU US5 Warehouse Dashboard</dc:title>
  <dc:subject>PptxGenJS Presentation</dc:subject>
  <dc:creator>MAU US5 Warehouse</dc:creator>
  <cp:lastModifiedBy>MAU US5 Warehouse</cp:lastModifiedBy>
  <cp:revision>1</cp:revision>
  <dcterms:created xsi:type="dcterms:W3CDTF">2026-04-01T15:36:25Z</dcterms:created>
  <dcterms:modified xsi:type="dcterms:W3CDTF">2026-04-01T15:36:25Z</dcterms:modified>
</cp:coreProperties>
</file>