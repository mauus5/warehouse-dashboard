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675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97FE6"/>
                </a:solidFill>
                <a:latin typeface="Segoe UI"/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016750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5B8"/>
                </a:solidFill>
                <a:latin typeface="Segoe UI"/>
              </a:rPr>
              <a:t>September 2026  ·  Key Performance Indicators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676750"/>
            <a:ext cx="8229600" cy="3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97FE6"/>
                </a:solidFill>
                <a:latin typeface="Segoe UI"/>
              </a:rPr>
              <a:t>WAREHOUSE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2000" y="2856750"/>
            <a:ext cx="600000" cy="20000"/>
          </a:xfrm>
          <a:prstGeom prst="rect">
            <a:avLst/>
          </a:prstGeom>
          <a:solidFill>
            <a:srgbClr val="197FE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49F73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9F73"/>
                </a:solidFill>
                <a:latin typeface="Segoe UI"/>
              </a:rPr>
              <a:t>1,016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230,955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9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25,662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4,314/day</a:t>
            </a:r>
            <a:endParaRPr lang="en-US" sz="4200" dirty="0"/>
          </a:p>
        </p:txBody>
      </p:sp>
      <p:sp>
        <p:nvSpPr>
          <p:cNvPr id="16" name="Rounded Rectangle 15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9 DAYS TRACKED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27,116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15 pickers  ·  August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21,223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15 staff  ·  August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7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6.7</a:t>
            </a:r>
            <a:endParaRPr lang="en-US" sz="4200" dirty="0"/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329184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688"/>
                </a:solidFill>
                <a:latin typeface="Segoe UI"/>
              </a:rPr>
              <a:t>3 days unconfirmed in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MIXED PERIOD  ·  SEE SUBLABELS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12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25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38,829</a:t>
            </a:r>
            <a:endParaRPr lang="en-US" sz="4200" dirty="0"/>
          </a:p>
        </p:txBody>
      </p:sp>
      <p:sp>
        <p:nvSpPr>
          <p:cNvPr id="15" name="Rounded Rectangle 14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9 DAYS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Orji Kalu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Jaylon Williams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Donald Lynch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Jalen Brown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64871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61533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183.0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72631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396.9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60116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61047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51149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391.9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53847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390.2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97392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42933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66070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379.2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377.6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47542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375.1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61696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359.2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352.9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137.25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46691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340.2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337.8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330.4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30116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327.3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160.75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49350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307.0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56363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305.9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27906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300.9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275.1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148.5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40662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273.8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248.75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67864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139.5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37620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269.7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24263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29018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24830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97,392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22364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72,631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13410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21938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67,864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16903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66,070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14232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18163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14046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64,871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21734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62,401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20201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21768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8394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61,696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22442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61,533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61,047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23377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60,116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56,363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18549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53,847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17135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51,149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11748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50,464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14346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10480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49,350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12029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47,542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17621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47,418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11910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46,691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6793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42,933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11879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40,662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10480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39,861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39,817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37,620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30,116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27,906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112.0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157.0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2046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Zacchaeus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3,106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2,757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2,610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2,295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2,283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Zacchaeus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156.25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Tashan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Charles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Washington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156.75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1490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140.5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2,153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2,032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Lamar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Washington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1,490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Tashan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Charles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Austin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Hickox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Boyd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Evans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Terence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Wayne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Amerson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Betancourt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Terrance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Shiver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Kyietcha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163.25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