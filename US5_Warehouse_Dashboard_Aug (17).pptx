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675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7FE6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675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8"/>
                </a:solidFill>
                <a:latin typeface="Segoe UI"/>
              </a:rPr>
              <a:t>October 2026  ·  Key Performance Indicators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67675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7FE6"/>
                </a:solidFill>
                <a:latin typeface="Segoe UI"/>
              </a:rPr>
              <a:t>WAREHOUSE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2000" y="2856750"/>
            <a:ext cx="600000" cy="20000"/>
          </a:xfrm>
          <a:prstGeom prst="rect">
            <a:avLst/>
          </a:prstGeom>
          <a:solidFill>
            <a:srgbClr val="197FE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49F73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9F73"/>
                </a:solidFill>
                <a:latin typeface="Segoe UI"/>
              </a:rPr>
              <a:t>1,066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707,261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29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24,388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5,873/day</a:t>
            </a:r>
            <a:endParaRPr lang="en-US" sz="4200" dirty="0"/>
          </a:p>
        </p:txBody>
      </p:sp>
      <p:sp>
        <p:nvSpPr>
          <p:cNvPr id="16" name="Rounded Rectangle 15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OCTOBER 2026  ·  29 DAYS 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00000" y="2337360"/>
            <a:ext cx="2514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25730" y="2520240"/>
            <a:ext cx="22631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25730" y="3068880"/>
            <a:ext cx="22631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21,512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25730" y="3708960"/>
            <a:ext cx="22631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16 pickers  ·  October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4600" y="2337360"/>
            <a:ext cx="2514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40330" y="2520240"/>
            <a:ext cx="22631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40330" y="3068880"/>
            <a:ext cx="22631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15,219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40330" y="3708960"/>
            <a:ext cx="22631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15 staff  ·  October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9200" y="2337360"/>
            <a:ext cx="2514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54930" y="2520240"/>
            <a:ext cx="22631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4930" y="3068880"/>
            <a:ext cx="22631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6.9</a:t>
            </a:r>
            <a:endParaRPr lang="en-US" sz="4200" dirty="0"/>
          </a:p>
        </p:txBody>
      </p:sp>
      <p:sp>
        <p:nvSpPr>
          <p:cNvPr id="18" name="Rounded Rectangle 17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22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70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170,313</a:t>
            </a:r>
            <a:endParaRPr lang="en-US" sz="4200" dirty="0"/>
          </a:p>
        </p:txBody>
      </p:sp>
      <p:sp>
        <p:nvSpPr>
          <p:cNvPr id="15" name="Rounded Rectangle 14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OCTOBER 2026  ·  29 DAYS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Orji Kalu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Armando Avalos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Gabriel Cabalbag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Boyd Evans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670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56633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425.8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44840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414.2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50058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405.3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166.5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66292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398.2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45904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395.7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Jevante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Bishop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31656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395.7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35534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385.2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38300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382.0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35732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369.3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20185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368.7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Damoray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Devoe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47111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361.7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182.25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64790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132.75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46960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353.7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47609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351.4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49377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51856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347.4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33163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346.3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134.25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45347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337.8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31259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337.0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46669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306.5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29752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305.9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38605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54068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286.5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98.0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28023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285.9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Daniel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89.0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111.25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30770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276.6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Gatson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131.5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17635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134.1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3670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22274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23742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66,292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24781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24461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64,790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26033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16705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56,633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54,068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21346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51,856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11939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26647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50,058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17718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17553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49,377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47,609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Damoray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Devoe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19656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15069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47,111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46,960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46,669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18708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10999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16197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45,904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17143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6682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21522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45,347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14212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44,840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15304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38,605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38,300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13177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15548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35,732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35,534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20778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33,163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Jevante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Bishop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9782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31,656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13966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6279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11014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31,259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30,770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29,752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Daniel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28,287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13216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6297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24,940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24,673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8100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20,185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Joshua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Gatson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17635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17,635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Riley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Paul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Kelly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2,362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1,909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1,735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1,649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1,639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Riley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1502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Ryan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Koger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207.0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1839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Cleavon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Gaston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Maurice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Frazier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56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1,502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56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Ryan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Koger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Cleavon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Gaston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Maurice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Frazier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