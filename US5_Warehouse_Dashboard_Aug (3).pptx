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notesMasterIdLst>
    <p:notesMasterId r:id="rId2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Relationship Id="rId29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116750"/>
            <a:ext cx="8229600" cy="60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4ECDC4"/>
                </a:solidFill>
                <a:latin typeface="Segoe UI"/>
              </a:rPr>
              <a:t>MAU US5 Warehouse Dashboard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3016750"/>
            <a:ext cx="8229600" cy="450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5B8"/>
                </a:solidFill>
                <a:latin typeface="Segoe UI"/>
              </a:rPr>
              <a:t>September 2026  ·  Key Performance Indicators</a:t>
            </a:r>
            <a:endParaRPr lang="en-US" sz="2800" dirty="0"/>
          </a:p>
        </p:txBody>
      </p:sp>
      <p:sp>
        <p:nvSpPr>
          <p:cNvPr id="6" name="TextBox 5"/>
          <p:cNvSpPr txBox="1"/>
          <p:nvPr/>
        </p:nvSpPr>
        <p:spPr>
          <a:xfrm>
            <a:off x="457200" y="1676750"/>
            <a:ext cx="8229600" cy="3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4ECDC4"/>
                </a:solidFill>
                <a:latin typeface="Segoe UI"/>
              </a:rPr>
              <a:t>WAREHOUSE PERFORMANCE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2000" y="2856750"/>
            <a:ext cx="600000" cy="20000"/>
          </a:xfrm>
          <a:prstGeom prst="rect">
            <a:avLst/>
          </a:prstGeom>
          <a:solidFill>
            <a:srgbClr val="4ECD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  <a:latin typeface="Segoe UI"/>
              </a:rPr>
              <a:t>Safety &amp; Loader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34D399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Days Without OSHA Recordable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0BE881"/>
                </a:solidFill>
                <a:latin typeface="Segoe UI"/>
              </a:rPr>
              <a:t>1,016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Total Tires Loaded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230,955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9 days tracked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Per Day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25,662</a:t>
            </a:r>
            <a:endParaRPr lang="en-US" sz="4200" dirty="0"/>
          </a:p>
        </p:txBody>
      </p:sp>
      <p:sp>
        <p:nvSpPr>
          <p:cNvPr id="13" name="Shape 11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Avg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4,314/day</a:t>
            </a:r>
            <a:endParaRPr lang="en-US" sz="4200" dirty="0"/>
          </a:p>
        </p:txBody>
      </p:sp>
      <p:sp>
        <p:nvSpPr>
          <p:cNvPr id="16" name="Rounded Rectangle 15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SEPTEMBER 2026  ·  9 DAYS TRACKED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  <a:latin typeface="Segoe UI"/>
              </a:rPr>
              <a:t>Warehouse Operations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Picked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27,116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10972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15 pickers  ·  August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Pallets Putaway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21,223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5212080" y="274320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B7688"/>
                </a:solidFill>
                <a:latin typeface="Segoe UI"/>
              </a:rPr>
              <a:t>15 staff  ·  August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Late Loads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7</a:t>
            </a:r>
            <a:endParaRPr lang="en-US" sz="4200" dirty="0"/>
          </a:p>
        </p:txBody>
      </p:sp>
      <p:sp>
        <p:nvSpPr>
          <p:cNvPr id="14" name="Shape 12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Roll Over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6.7</a:t>
            </a:r>
            <a:endParaRPr lang="en-US" sz="4200" dirty="0"/>
          </a:p>
        </p:txBody>
      </p:sp>
      <p:sp>
        <p:nvSpPr>
          <p:cNvPr id="17" name="TextBox 16"/>
          <p:cNvSpPr txBox="1"/>
          <p:nvPr/>
        </p:nvSpPr>
        <p:spPr>
          <a:xfrm>
            <a:off x="1097280" y="4846320"/>
            <a:ext cx="329184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>
                <a:solidFill>
                  <a:srgbClr val="6B7688"/>
                </a:solidFill>
                <a:latin typeface="Segoe UI"/>
              </a:rPr>
              <a:t>3 days unconfirmed in source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MIXED PERIOD  ·  SEE SUBLABELS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4ECDC4"/>
                </a:solidFill>
                <a:latin typeface="Segoe UI"/>
              </a:rPr>
              <a:t>Additional Metrics</a:t>
            </a:r>
            <a:endParaRPr lang="en-US" sz="3600" dirty="0"/>
          </a:p>
        </p:txBody>
      </p:sp>
      <p:sp>
        <p:nvSpPr>
          <p:cNvPr id="3" name="Shape 1"/>
          <p:cNvSpPr/>
          <p:nvPr/>
        </p:nvSpPr>
        <p:spPr>
          <a:xfrm>
            <a:off x="9144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10972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Average Bins Available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0972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12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5029200" y="137160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5212080" y="155448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Max Bins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212080" y="210312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25</a:t>
            </a:r>
            <a:endParaRPr lang="en-US" sz="4200" dirty="0"/>
          </a:p>
        </p:txBody>
      </p:sp>
      <p:sp>
        <p:nvSpPr>
          <p:cNvPr id="9" name="Shape 7"/>
          <p:cNvSpPr/>
          <p:nvPr/>
        </p:nvSpPr>
        <p:spPr>
          <a:xfrm>
            <a:off x="9144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Min Bins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0972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0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5029200" y="3474720"/>
            <a:ext cx="3657600" cy="164592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212080" y="36576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9AA5B8"/>
                </a:solidFill>
                <a:latin typeface="Segoe UI"/>
              </a:rPr>
              <a:t>Loaded vs Drop Total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4206240"/>
            <a:ext cx="3291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Segoe UI"/>
              </a:rPr>
              <a:t>38,829</a:t>
            </a:r>
            <a:endParaRPr lang="en-US" sz="4200" dirty="0"/>
          </a:p>
        </p:txBody>
      </p:sp>
      <p:sp>
        <p:nvSpPr>
          <p:cNvPr id="15" name="Rounded Rectangle 14"/>
          <p:cNvSpPr/>
          <p:nvPr/>
        </p:nvSpPr>
        <p:spPr>
          <a:xfrm>
            <a:off x="2772000" y="920000"/>
            <a:ext cx="3600000" cy="28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100" b="1">
                <a:solidFill>
                  <a:srgbClr val="9AA5B8"/>
                </a:solidFill>
                <a:latin typeface="Segoe UI"/>
              </a:rPr>
              <a:t>SEPTEMBER 2026  ·  9 DAYS TRACKED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  <a:latin typeface="Segoe UI"/>
              </a:rPr>
              <a:t>🏆 Loader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b="1">
                <a:solidFill>
                  <a:srgbClr val="34D399"/>
                </a:solidFill>
                <a:latin typeface="Segoe UI"/>
              </a:rPr>
              <a:t>Malachi Burgess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loading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productivity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safety record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team collaboration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  <a:latin typeface="Segoe UI"/>
              </a:rPr>
              <a:t>🏆 Picker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b="1">
                <a:solidFill>
                  <a:srgbClr val="34D399"/>
                </a:solidFill>
                <a:latin typeface="Segoe UI"/>
              </a:rPr>
              <a:t>Makaela Culler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picking accuracy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Exceeded productivity targets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efficiency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Demonstrated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  <a:latin typeface="Segoe UI"/>
              </a:rPr>
              <a:t>🏆 Putaway of the Month 🏆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b="1">
                <a:solidFill>
                  <a:srgbClr val="34D399"/>
                </a:solidFill>
                <a:latin typeface="Segoe UI"/>
              </a:rPr>
              <a:t>Donald Lynch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Superior putaway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Maintained quality standards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Excellent organization skills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Consistent high achievement</a:t>
            </a:r>
            <a:endParaRPr lang="en-US" sz="16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4ECDC4"/>
                </a:solidFill>
                <a:latin typeface="Segoe UI"/>
              </a:rPr>
              <a:t>🌟 Employee of the Month 🌟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>
                <a:solidFill>
                  <a:srgbClr val="9AA5B8"/>
                </a:solidFill>
                <a:latin typeface="Segoe UI"/>
              </a:rPr>
              <a:t>July 2026</a:t>
            </a:r>
          </a:p>
        </p:txBody>
      </p:sp>
      <p:sp>
        <p:nvSpPr>
          <p:cNvPr id="4" name="Text 2"/>
          <p:cNvSpPr/>
          <p:nvPr/>
        </p:nvSpPr>
        <p:spPr>
          <a:xfrm>
            <a:off x="1371600" y="2286000"/>
            <a:ext cx="6400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b="1">
                <a:solidFill>
                  <a:srgbClr val="34D399"/>
                </a:solidFill>
                <a:latin typeface="Segoe UI"/>
              </a:rPr>
              <a:t>Wayne Amerson</a:t>
            </a:r>
          </a:p>
        </p:txBody>
      </p:sp>
      <p:sp>
        <p:nvSpPr>
          <p:cNvPr id="5" name="Shape 3"/>
          <p:cNvSpPr/>
          <p:nvPr/>
        </p:nvSpPr>
        <p:spPr>
          <a:xfrm>
            <a:off x="1828800" y="3200400"/>
            <a:ext cx="5486400" cy="2286000"/>
          </a:xfrm>
          <a:prstGeom prst="rect">
            <a:avLst/>
          </a:prstGeom>
          <a:solidFill>
            <a:srgbClr val="1B2138"/>
          </a:solidFill>
          <a:ln w="9525">
            <a:solidFill>
              <a:srgbClr val="4ECDC4"/>
            </a:solidFill>
            <a:prstDash val="solid"/>
          </a:ln>
          <a:effectLst>
            <a:outerShdw blurRad="190500" dist="38100" dir="5400000" rotWithShape="0">
              <a:srgbClr val="000000">
                <a:alpha val="45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2011680" y="338328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4ECDC4"/>
                </a:solidFill>
                <a:latin typeface="Segoe UI"/>
              </a:rPr>
              <a:t>Key Accomplishments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103120" y="3840480"/>
            <a:ext cx="49377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Exceptional overall performance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Outstanding work ethic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Strong leadership qualities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Segoe UI"/>
              </a:rPr>
              <a:t>• Commitment to excellence</a:t>
            </a:r>
            <a:endParaRPr lang="en-US" sz="1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(1 of 3)</a:t>
            </a:r>
            <a:endParaRPr lang="en-US" sz="26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156.0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64871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415.8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151.0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61533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407.5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183.0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72631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396.9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Malachi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Burgess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60116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395.5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155.25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61047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393.2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130.5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51149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391.9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138.0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53847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390.2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251.0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97392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388.0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111.5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42933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385.0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(2 of 3)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66070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379.2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165.25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62401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377.6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47542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375.1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171.75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61696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359.2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143.0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50464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352.9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137.25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46691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340.2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118.0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39861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337.8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143.5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47418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330.4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Efficiency (3 of 3)</a:t>
            </a:r>
            <a:endParaRPr lang="en-US" sz="26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Hours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 Tires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Tires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Keisler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30116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327.3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160.75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49350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307.0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Steven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184.25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56363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305.9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27906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300.9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144.75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39817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275.1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23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148.5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40662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273.8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248.75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67864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272.8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/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139.5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37620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 b="0">
                          <a:solidFill>
                            <a:srgbClr val="F2F5F9"/>
                          </a:solidFill>
                          <a:latin typeface="Segoe UI"/>
                        </a:rPr>
                        <a:t>269.7</a:t>
                      </a:r>
                      <a:endParaRPr lang="en-US" sz="1000" dirty="0"/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3" name="Rounded Rectangle 12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(1 of 3)</a:t>
            </a:r>
            <a:endParaRPr lang="en-US" sz="26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037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Malcolm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24263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29018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19281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24830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97,392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Orji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Kalu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22988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14352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22364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12927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72,631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Stanley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17371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15145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13410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21938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67,864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Alexander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Cruz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19051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17433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12683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16903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66,070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Carlos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Martinez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18430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14232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18163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14046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64,871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Lucas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Juarez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15518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16254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21734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62,401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Pulido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20201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11333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21768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8394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61,696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Rhone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11616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19348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22442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8127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61,533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03768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Yoslandy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Perez-Garcia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19051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12683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11880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61,047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4" name="Rounded Rectangle 13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(2 of 3)</a:t>
            </a:r>
            <a:endParaRPr lang="en-US" sz="26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Malachi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Burgess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16104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23377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11425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60,116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Steven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12352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12568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16178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56,363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Fermin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Flores Trejo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11681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10624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18549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53,847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Pedro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Lopez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12512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12607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8895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17135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51,149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Levonta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Grooms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11748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12763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12861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13092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50,464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Bryant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14346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10480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49,350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Jacob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Lyles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15804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8334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11375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12029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47,542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Sekwan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Jenkins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10328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17621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12150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47,418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5" name="Rounded Rectangle 14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Loader Totals (3 of 3)</a:t>
            </a:r>
            <a:endParaRPr lang="en-US" sz="2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Denzell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Kitching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16823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3850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11910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14108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46,691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Whitt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6509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17350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6793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12281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42,933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Elder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Ndukwe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10065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11166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7552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11879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40,662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Mayes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15290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6268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10480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39,861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Ammar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McRiney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10463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39,817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Gonder Jr.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7124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11574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8770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10152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37,620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Keisler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12506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3369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7319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30,116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Bennett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10369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27,906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6" name="Rounded Rectangle 15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(1 of 2)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112.0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221.0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145.25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1932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208.0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2757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7" name="Rounded Rectangle 16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Efficiency (2 of 2)</a:t>
            </a:r>
            <a:endParaRPr lang="en-US" sz="26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Picked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141.25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89.0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1086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157.0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1897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174.0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2046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129.75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111.0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843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Zacchaeus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99.0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8" name="Rounded Rectangle 17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(1 of 2)</a:t>
            </a:r>
            <a:endParaRPr lang="en-US" sz="2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Makaela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Culler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921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862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3,106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Zavius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Calloway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961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2,757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Jaylon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772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2,610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Johnathan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Ermel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570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2,295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Jalen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907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652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2,283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Armando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Avalos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1,991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George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Harris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632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1,897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Travis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Abney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1,744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19" name="Rounded Rectangle 18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Picker Totals (2 of 2)</a:t>
            </a:r>
            <a:endParaRPr lang="en-US" sz="26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755636"/>
                <a:gridCol w="1227908"/>
                <a:gridCol w="1322363"/>
                <a:gridCol w="850090"/>
                <a:gridCol w="850090"/>
                <a:gridCol w="850090"/>
                <a:gridCol w="850090"/>
                <a:gridCol w="850090"/>
                <a:gridCol w="1038999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Akeem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Bouknight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554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442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1,738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Gregory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1,695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Bendrix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Hook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581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558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1,593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O'Mari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Rajah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1,332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David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Kearse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1,086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Kyle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Graham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843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Zacchaeus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Johnson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0" name="Rounded Rectangle 19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(1 of 2)</a:t>
            </a:r>
            <a:endParaRPr lang="en-US" sz="26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184.25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2153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147.5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128.75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1372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Dakota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Grubbs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119.5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1270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156.25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Butler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194.0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Tashan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Charles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Efficiency (2 of 2)</a:t>
            </a:r>
            <a:endParaRPr lang="en-US" sz="26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402080"/>
                <a:gridCol w="1402080"/>
                <a:gridCol w="1402080"/>
                <a:gridCol w="1402080"/>
                <a:gridCol w="1402080"/>
                <a:gridCol w="140208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Moved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Lamar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Washington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165.75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1505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9.1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229.25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2032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156.75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1336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Patrick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138.0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1163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179.25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1490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164.5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1104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Jakyrick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Hallingquest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140.5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2" name="Rounded Rectangle 21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(1 of 2)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4486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Donald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Lynch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624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557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480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2,153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Daquan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Adams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423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530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791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2,032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Jimmy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McBride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1,913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Gabriel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Cabalbag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487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464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1,701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Michael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Orta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1,622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Lamar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Washington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379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1,505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Anthony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Quattlebaum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430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1,490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448631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Darryl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Dozier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476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313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1,372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3" name="Rounded Rectangle 22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Putaway Totals (2 of 2)</a:t>
            </a:r>
            <a:endParaRPr lang="en-US" sz="2600" dirty="0"/>
          </a:p>
        </p:txBody>
      </p:sp>
      <p:graphicFrame>
        <p:nvGraphicFramePr>
          <p:cNvPr id="2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991520"/>
          <a:ext cx="8595360" cy="4037680"/>
        </p:xfrm>
        <a:graphic>
          <a:graphicData uri="http://schemas.openxmlformats.org/drawingml/2006/table">
            <a:tbl>
              <a:tblPr/>
              <a:tblGrid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  <a:gridCol w="955040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 Name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1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2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Week 3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4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 xml:space="preserve">Week 5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Totals MTD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9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Virgil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Calvin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327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255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408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1,336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Dakota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Grubbs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365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1,270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Patrick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Ames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388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337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243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1,163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Tashan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Charles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226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398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308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1,144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Tyreak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Rogers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274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186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340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1,104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Jakyrick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Hallingquest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266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282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912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William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Butler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210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296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/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506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4" name="Rounded Rectangle 23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Segoe UI"/>
              </a:rPr>
              <a:t>Bin Maker/Cons Efficiency</a:t>
            </a:r>
            <a:endParaRPr lang="en-US" sz="2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91520"/>
          <a:ext cx="8412480" cy="4037680"/>
        </p:xfrm>
        <a:graphic>
          <a:graphicData uri="http://schemas.openxmlformats.org/drawingml/2006/table">
            <a:tbl>
              <a:tblPr/>
              <a:tblGrid>
                <a:gridCol w="1201783"/>
                <a:gridCol w="1201783"/>
                <a:gridCol w="1201783"/>
                <a:gridCol w="1201783"/>
                <a:gridCol w="1201783"/>
                <a:gridCol w="1201783"/>
                <a:gridCol w="1201783"/>
              </a:tblGrid>
              <a:tr h="50471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Rank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First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Last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Hours Worked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Moves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Pallets / hr.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9AA5B8"/>
                          </a:solidFill>
                          <a:latin typeface="Segoe UI"/>
                        </a:rPr>
                        <a:t>12 hr. Projection</a:t>
                      </a:r>
                      <a:endParaRPr lang="en-US" sz="1100" dirty="0"/>
                    </a:p>
                  </a:txBody>
                  <a:tcPr marL="91440" marR="91440" marT="45720" marB="45720" anchor="ctr">
                    <a:solidFill>
                      <a:srgbClr val="1B2338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Austin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Hickox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135.75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1201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8.8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106.2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Boyd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Evans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153.0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995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6.5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78.0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Terence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Smith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117.5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516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4.4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52.7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Wayne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Amerson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83.0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357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51.6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Rodney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Betancourt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172.5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737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51.3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6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Terrance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Shiver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194.75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829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4.3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51.1</a:t>
                      </a:r>
                    </a:p>
                  </a:txBody>
                  <a:tcPr marL="91440" marR="91440" marT="45720" marB="45720" anchor="ctr">
                    <a:solidFill>
                      <a:srgbClr val="20263C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  <a:tr h="504710">
                <a:tc>
                  <a:txBody>
                    <a:bodyPr/>
                    <a:lstStyle/>
                    <a:p>
                      <a:pPr algn="ctr"/>
                      <a:r>
                        <a:rPr b="0" sz="1400">
                          <a:solidFill>
                            <a:srgbClr val="6B7688"/>
                          </a:solidFill>
                          <a:latin typeface="Segoe UI"/>
                        </a:rPr>
                        <a:t>7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Kyietcha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Brown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163.25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678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4.2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b="0" sz="1400">
                          <a:solidFill>
                            <a:srgbClr val="F2F5F9"/>
                          </a:solidFill>
                          <a:latin typeface="Segoe UI"/>
                        </a:rPr>
                        <a:t>49.8</a:t>
                      </a:r>
                    </a:p>
                  </a:txBody>
                  <a:tcPr marL="91440" marR="91440" marT="45720" marB="45720" anchor="ctr">
                    <a:solidFill>
                      <a:srgbClr val="1A1A2E"/>
                    </a:solidFill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6350" cap="flat">
                      <a:solidFill>
                        <a:srgbClr val="2A3348"/>
                      </a:solidFill>
                    </a:lnB>
                  </a:tcPr>
                </a:tc>
              </a:tr>
            </a:tbl>
          </a:graphicData>
        </a:graphic>
      </p:graphicFrame>
      <p:sp>
        <p:nvSpPr>
          <p:cNvPr id="25" name="Rounded Rectangle 24"/>
          <p:cNvSpPr/>
          <p:nvPr/>
        </p:nvSpPr>
        <p:spPr>
          <a:xfrm>
            <a:off x="3372000" y="680080"/>
            <a:ext cx="2400000" cy="250000"/>
          </a:xfrm>
          <a:prstGeom prst="roundRect">
            <a:avLst>
              <a:gd name="adj" fmla="val 50000"/>
            </a:avLst>
          </a:prstGeom>
          <a:solidFill>
            <a:srgbClr val="1B2138"/>
          </a:solidFill>
          <a:ln w="9525">
            <a:solidFill>
              <a:srgbClr val="2A334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  <a:r>
              <a:rPr sz="1000" b="1">
                <a:solidFill>
                  <a:srgbClr val="9AA5B8"/>
                </a:solidFill>
                <a:latin typeface="Segoe UI"/>
              </a:rPr>
              <a:t>AUGUST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23</Slides>
  <Notes>23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MAU US5 Warehouse Dashboard</dc:title>
  <dc:subject>PptxGenJS Presentation</dc:subject>
  <dc:creator>MAU US5 Warehouse</dc:creator>
  <cp:lastModifiedBy>MAU US5 Warehouse</cp:lastModifiedBy>
  <cp:revision>1</cp:revision>
  <dcterms:created xsi:type="dcterms:W3CDTF">2026-04-01T15:36:25Z</dcterms:created>
  <dcterms:modified xsi:type="dcterms:W3CDTF">2026-04-01T15:36:25Z</dcterms:modified>
</cp:coreProperties>
</file>