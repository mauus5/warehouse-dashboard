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?>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4ECDC4"/>
                </a:solidFill>
              </a:rPr>
              <a:t>MAU US5 Warehouse Dashboard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914400" y="320040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</a:rPr>
              <a:t>Key Performance Indicators</a:t>
            </a:r>
            <a:endParaRPr lang="en-US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ECDC4"/>
                </a:solidFill>
              </a:rPr>
              <a:t>Safety &amp; Loader Operations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972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Days Without OSHA Recordable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972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BE881"/>
                </a:solidFill>
              </a:rPr>
              <a:t>854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0292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2120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Total Tires Loaded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2120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506,644</a:t>
            </a:r>
            <a:endParaRPr lang="en-US" sz="4200" dirty="0"/>
          </a:p>
        </p:txBody>
      </p:sp>
      <p:sp>
        <p:nvSpPr>
          <p:cNvPr id="9" name="Text 7"/>
          <p:cNvSpPr/>
          <p:nvPr/>
        </p:nvSpPr>
        <p:spPr>
          <a:xfrm>
            <a:off x="5212080" y="27432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8080"/>
                </a:solidFill>
              </a:rPr>
              <a:t>20 days tracked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9144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972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Average Per Day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0972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25,332</a:t>
            </a:r>
            <a:endParaRPr lang="en-US" sz="4200" dirty="0"/>
          </a:p>
        </p:txBody>
      </p:sp>
      <p:sp>
        <p:nvSpPr>
          <p:cNvPr id="13" name="Shape 11"/>
          <p:cNvSpPr/>
          <p:nvPr/>
        </p:nvSpPr>
        <p:spPr>
          <a:xfrm>
            <a:off x="50292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2120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Loaded vs Drop Avg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2120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989/day</a:t>
            </a:r>
            <a:endParaRPr lang="en-US" sz="4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ECDC4"/>
                </a:solidFill>
              </a:rPr>
              <a:t>Warehouse Operations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972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Pallets Picked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972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6,942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1097280" y="27432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8080"/>
                </a:solidFill>
              </a:rPr>
              <a:t>16 pickers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0292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2120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Pallets Putaway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2120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5,683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5212080" y="27432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8080"/>
                </a:solidFill>
              </a:rPr>
              <a:t>17 staff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144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972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Late Loads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0972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BE881"/>
                </a:solidFill>
              </a:rPr>
              <a:t>0</a:t>
            </a:r>
            <a:endParaRPr lang="en-US" sz="4200" dirty="0"/>
          </a:p>
        </p:txBody>
      </p:sp>
      <p:sp>
        <p:nvSpPr>
          <p:cNvPr id="14" name="Shape 12"/>
          <p:cNvSpPr/>
          <p:nvPr/>
        </p:nvSpPr>
        <p:spPr>
          <a:xfrm>
            <a:off x="50292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2120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Average Roll Over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2120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3.90</a:t>
            </a:r>
            <a:endParaRPr lang="en-US" sz="4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ECDC4"/>
                </a:solidFill>
              </a:rPr>
              <a:t>Additional Metrics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972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Average Bins Available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972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51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0292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2120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Max Bins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2120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96</a:t>
            </a:r>
            <a:endParaRPr lang="en-US" sz="4200" dirty="0"/>
          </a:p>
        </p:txBody>
      </p:sp>
      <p:sp>
        <p:nvSpPr>
          <p:cNvPr id="9" name="Shape 7"/>
          <p:cNvSpPr/>
          <p:nvPr/>
        </p:nvSpPr>
        <p:spPr>
          <a:xfrm>
            <a:off x="9144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Min Bins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972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9</a:t>
            </a:r>
            <a:endParaRPr lang="en-US" sz="4200" dirty="0"/>
          </a:p>
        </p:txBody>
      </p:sp>
      <p:sp>
        <p:nvSpPr>
          <p:cNvPr id="12" name="Shape 10"/>
          <p:cNvSpPr/>
          <p:nvPr/>
        </p:nvSpPr>
        <p:spPr>
          <a:xfrm>
            <a:off x="50292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2120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Loaded vs Drop Total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2120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7,912</a:t>
            </a:r>
            <a:endParaRPr lang="en-US" sz="4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ECDC4"/>
                </a:solidFill>
              </a:rPr>
              <a:t>🏆 Loader of the Month 🏆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</a:rPr>
              <a:t>March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BE881"/>
                </a:solidFill>
              </a:rPr>
              <a:t>Lucas Juarez</a:t>
            </a:r>
            <a:endParaRPr lang="en-US" sz="4800" dirty="0"/>
          </a:p>
        </p:txBody>
      </p:sp>
      <p:sp>
        <p:nvSpPr>
          <p:cNvPr id="5" name="Shape 3"/>
          <p:cNvSpPr/>
          <p:nvPr/>
        </p:nvSpPr>
        <p:spPr>
          <a:xfrm>
            <a:off x="1828800" y="3200400"/>
            <a:ext cx="5486400" cy="2286000"/>
          </a:xfrm>
          <a:prstGeom prst="rect">
            <a:avLst/>
          </a:prstGeom>
          <a:solidFill>
            <a:srgbClr val="283846"/>
          </a:solidFill>
          <a:ln w="38100">
            <a:solidFill>
              <a:srgbClr val="4ECDC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011680" y="3383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CDC4"/>
                </a:solidFill>
              </a:rPr>
              <a:t>Key Accomplishments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03120" y="384048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Outstanding loading performance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Consistent high productivity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Excellent safety record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Strong team collaboration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ECDC4"/>
                </a:solidFill>
              </a:rPr>
              <a:t>🏆 Picker of the Month 🏆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</a:rPr>
              <a:t>March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BE881"/>
                </a:solidFill>
              </a:rPr>
              <a:t>Zavius Calloway</a:t>
            </a:r>
            <a:endParaRPr lang="en-US" sz="4800" dirty="0"/>
          </a:p>
        </p:txBody>
      </p:sp>
      <p:sp>
        <p:nvSpPr>
          <p:cNvPr id="5" name="Shape 3"/>
          <p:cNvSpPr/>
          <p:nvPr/>
        </p:nvSpPr>
        <p:spPr>
          <a:xfrm>
            <a:off x="1828800" y="3200400"/>
            <a:ext cx="5486400" cy="2286000"/>
          </a:xfrm>
          <a:prstGeom prst="rect">
            <a:avLst/>
          </a:prstGeom>
          <a:solidFill>
            <a:srgbClr val="283846"/>
          </a:solidFill>
          <a:ln w="38100">
            <a:solidFill>
              <a:srgbClr val="4ECDC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011680" y="3383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CDC4"/>
                </a:solidFill>
              </a:rPr>
              <a:t>Key Accomplishments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03120" y="384048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Exceptional picking accuracy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Exceeded productivity targets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Outstanding efficiency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Demonstrated excellence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ECDC4"/>
                </a:solidFill>
              </a:rPr>
              <a:t>🏆 Putaway of the Month 🏆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</a:rPr>
              <a:t>March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BE881"/>
                </a:solidFill>
              </a:rPr>
              <a:t>Dakota Grubbs</a:t>
            </a:r>
            <a:endParaRPr lang="en-US" sz="4800" dirty="0"/>
          </a:p>
        </p:txBody>
      </p:sp>
      <p:sp>
        <p:nvSpPr>
          <p:cNvPr id="5" name="Shape 3"/>
          <p:cNvSpPr/>
          <p:nvPr/>
        </p:nvSpPr>
        <p:spPr>
          <a:xfrm>
            <a:off x="1828800" y="3200400"/>
            <a:ext cx="5486400" cy="2286000"/>
          </a:xfrm>
          <a:prstGeom prst="rect">
            <a:avLst/>
          </a:prstGeom>
          <a:solidFill>
            <a:srgbClr val="283846"/>
          </a:solidFill>
          <a:ln w="38100">
            <a:solidFill>
              <a:srgbClr val="4ECDC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011680" y="3383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CDC4"/>
                </a:solidFill>
              </a:rPr>
              <a:t>Key Accomplishments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03120" y="384048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Superior putaway performance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Maintained quality standards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Excellent organization skills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Consistent high achievement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ECDC4"/>
                </a:solidFill>
              </a:rPr>
              <a:t>🌟 Employee of the Month 🌟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</a:rPr>
              <a:t>March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BE881"/>
                </a:solidFill>
              </a:rPr>
              <a:t>Jonathan Ermel</a:t>
            </a:r>
            <a:endParaRPr lang="en-US" sz="4800" dirty="0"/>
          </a:p>
        </p:txBody>
      </p:sp>
      <p:sp>
        <p:nvSpPr>
          <p:cNvPr id="5" name="Shape 3"/>
          <p:cNvSpPr/>
          <p:nvPr/>
        </p:nvSpPr>
        <p:spPr>
          <a:xfrm>
            <a:off x="1828800" y="3200400"/>
            <a:ext cx="5486400" cy="2286000"/>
          </a:xfrm>
          <a:prstGeom prst="rect">
            <a:avLst/>
          </a:prstGeom>
          <a:solidFill>
            <a:srgbClr val="283846"/>
          </a:solidFill>
          <a:ln w="38100">
            <a:solidFill>
              <a:srgbClr val="4ECDC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011680" y="3383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CDC4"/>
                </a:solidFill>
              </a:rPr>
              <a:t>Key Accomplishments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03120" y="384048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Exceptional overall performance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Outstanding work ethic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Strong leadership qualities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Commitment to excellence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Efficiency (1 of 3)</a:t>
            </a:r>
            <a:endParaRPr lang="en-US" sz="26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Hours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Tires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Tires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Carlos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Martinez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43,147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454.18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Malcolm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Davis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87.75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38,799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442.15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Malachi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Burgess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73.25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32,114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438.42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Pedro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Lopez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97.5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42,519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436.09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Lucas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Juarez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105.25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45,243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429.86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Jacob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Lyles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94.75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40,617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428.68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145.5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Yoslandy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Perez-Garcia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101.25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40,403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399.04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Levonta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Grooms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73.25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29,062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396.75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Alexander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Cruz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169.75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66,841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393.76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William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Rhone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61.75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24,200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391.90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Fermin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Flores Trejo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73.5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28,662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389.96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Orji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Kalu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56,599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389.00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Efficiency (2 of 3)</a:t>
            </a:r>
            <a:endParaRPr lang="en-US" sz="26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Hours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Tires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Tires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Juan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Estrada Suarez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78.5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30,186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384.54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Bralen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Keisler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92.25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34,897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378.29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Denzell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Kitching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87.25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32,596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373.59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Erik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Gonzalez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25,940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370.57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Travis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Whitt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9,605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355.74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Jose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Pulido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43,341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355.25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Elder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Ndukwe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104.75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36,494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348.39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Ernest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Curry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92.5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30,899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334.04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Willis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Mayes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99.25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32,606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328.52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Steven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Ndukwe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98.25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31,819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323.86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Daniel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Brown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98.25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31,758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323.24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Kevin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Suarez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94.25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29,975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318.04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Efficiency (3 of 3)</a:t>
            </a:r>
            <a:endParaRPr lang="en-US" sz="26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Hours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Tires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Tires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Sekwan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Jenkins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68.75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21,742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316.25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36.5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Jasir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Anderson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61.5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19,290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313.66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Michael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Gonder Jr.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86.75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27,121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312.63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Ammar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McRiney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89.75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28,057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312.61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Alton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Dennison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121.75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36,827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302.48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Akeem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Pierce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11,001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301.40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Stanley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Green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66.25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19,315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291.55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Michael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Williams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104.5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24,907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238.34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Totals (1 of 3)</a:t>
            </a:r>
            <a:endParaRPr lang="en-US" sz="26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1: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66,841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Orji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Kalu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Orji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20,426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26,690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Malcolm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Davis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19,725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Kalu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20,174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17,129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19,296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56,599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Alexander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Cruz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7,823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18,160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19,260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45,243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Erik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Totals (2 of 3)</a:t>
            </a:r>
            <a:endParaRPr lang="en-US" sz="26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1: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Stanley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Green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Ernest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Curry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7,383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12,508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16,936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36,827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Ernest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Curry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15,456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8,471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12,567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36,494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Travis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Whitt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11,924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11,488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11,485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34,897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Kevin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Totals (3 of 3)</a:t>
            </a:r>
            <a:endParaRPr lang="en-US" sz="26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1: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Juan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Estrada Suarez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William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Rhone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16,743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12,401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1,042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30,186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Willis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Mayes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14,378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6,601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8,996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29,975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Levonta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Grooms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10,502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6,783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11,777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29,062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Jacob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Efficiency (1 of 2)</a:t>
            </a:r>
            <a:endParaRPr lang="en-US" sz="26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402080"/>
                <a:gridCol w="1402080"/>
                <a:gridCol w="1402080"/>
                <a:gridCol w="1402080"/>
                <a:gridCol w="1402080"/>
                <a:gridCol w="1402080"/>
              </a:tblGrid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Pallets Picked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Akeem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Travis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135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1,856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13.75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113.75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Jaylon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Williams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1,499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13.18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Gregory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Brown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147.5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1,935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13.12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Austin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Hickox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121.25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1,502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12.39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Jones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Abney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132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1,588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12.03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George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Harris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96.75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1,155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11.94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Thomas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Bouknight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102.5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1,166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11.38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Bendrix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Hook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76.25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827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10.85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10.60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Efficiency (2 of 2)</a:t>
            </a:r>
            <a:endParaRPr lang="en-US" sz="26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402080"/>
                <a:gridCol w="1402080"/>
                <a:gridCol w="1402080"/>
                <a:gridCol w="1402080"/>
                <a:gridCol w="1402080"/>
                <a:gridCol w="1402080"/>
              </a:tblGrid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Pallets Picked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9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Makaela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Culler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1,610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10.73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David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Kearse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75.5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793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10.50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Avalos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104.5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158.75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1,662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10.47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Ermel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Desmond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51.5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535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10.39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Joshua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Threatt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78.75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809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10.27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Zavius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Calloway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1,397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10.20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Johnathan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Ledell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127.5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1,291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10.13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Armando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Jaren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Martinez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1,040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9.95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8.72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Totals (1 of 2)</a:t>
            </a:r>
            <a:endParaRPr lang="en-US" sz="26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1: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Zavius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Calloway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Austin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Hickox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485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714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1,935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Thomas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Jones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736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785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1,856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878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Jaren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Martinez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183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834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645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Totals (2 of 2)</a:t>
            </a:r>
            <a:endParaRPr lang="en-US" sz="26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1: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Akeem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Bouknight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Johnathan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Ermel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364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445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482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1,291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Akeem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Bouknight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233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539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1,166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George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Harris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402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431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Efficiency (1 of 2)</a:t>
            </a:r>
            <a:endParaRPr lang="en-US" sz="26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682496"/>
                <a:gridCol w="1682496"/>
                <a:gridCol w="1682496"/>
                <a:gridCol w="1682496"/>
                <a:gridCol w="1682496"/>
              </a:tblGrid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Roderick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Lynch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117.5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1,574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13.40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Dakota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Grubbs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109.25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1,278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11.70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Donald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Myles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114.75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1,283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11.18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Gabriel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Cabalbag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75.5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833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11.03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William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Butler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95.75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1,046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10.92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Keyton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Washington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1,411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10.61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Efficiency (2 of 2)</a:t>
            </a:r>
            <a:endParaRPr lang="en-US" sz="26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682496"/>
                <a:gridCol w="1682496"/>
                <a:gridCol w="1682496"/>
                <a:gridCol w="1682496"/>
                <a:gridCol w="1682496"/>
              </a:tblGrid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8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Tyreak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7.95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118.5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997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8.41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91.25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698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1,085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8.35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Michael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Rogers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138.5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1,150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8.30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Daquan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Orta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96.5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767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Adams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Virgil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Calvin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Lamar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Washington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7.65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Christopher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Brice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104.75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772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7.37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Totals (1 of 2)</a:t>
            </a:r>
            <a:endParaRPr lang="en-US" sz="26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</a:tblGrid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1: 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3: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5: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Dakota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Grubbs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412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780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382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1,574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Donald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Lynch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695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Totals (2 of 2)</a:t>
            </a:r>
            <a:endParaRPr lang="en-US" sz="26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</a:tblGrid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1: 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3: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5: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408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Keyton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Daquan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William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488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1,046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Washington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Adams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Bin Maker/Cons Efficiency</a:t>
            </a:r>
            <a:endParaRPr lang="en-US" sz="26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Moves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Pallets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12 hr. Projection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Rodney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Betancourt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84.25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531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6.30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75.63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Trynatee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Douse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120.25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588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4.89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58.68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Bryan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Morant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208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4.43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53.11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Terence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Smith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131.5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576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4.38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52.56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Wayne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Amerson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452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4.22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50.69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Terrance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Shiver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534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3.45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41.34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MAU US5 Warehouse Dashboard</dc:title>
  <dc:subject>PptxGenJS Presentation</dc:subject>
  <dc:creator>MAU US5 Warehouse</dc:creator>
  <cp:lastModifiedBy>MAU US5 Warehouse</cp:lastModifiedBy>
  <cp:revision>1</cp:revision>
  <dcterms:created xsi:type="dcterms:W3CDTF">2026-04-01T15:36:25Z</dcterms:created>
  <dcterms:modified xsi:type="dcterms:W3CDTF">2026-04-01T15:36:25Z</dcterms:modified>
</cp:coreProperties>
</file>